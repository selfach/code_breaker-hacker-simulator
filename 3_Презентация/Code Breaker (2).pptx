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C6386A8D-305B-4B50-9FE9-2AFD72D836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9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336019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4700" y="6496050"/>
            <a:ext cx="4762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"/>
          <p:cNvSpPr txBox="1"/>
          <p:nvPr/>
        </p:nvSpPr>
        <p:spPr>
          <a:xfrm>
            <a:off x="781050" y="2245965"/>
            <a:ext cx="111615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FF66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BREAKER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"/>
          <p:cNvSpPr txBox="1"/>
          <p:nvPr/>
        </p:nvSpPr>
        <p:spPr>
          <a:xfrm>
            <a:off x="781050" y="3059310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Разработка игры на языке Python с использованием библиотеки Pygame: прикладной программный проект и элементы кибербезопасности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"/>
          <p:cNvSpPr txBox="1"/>
          <p:nvPr/>
        </p:nvSpPr>
        <p:spPr>
          <a:xfrm>
            <a:off x="1390650" y="4307075"/>
            <a:ext cx="286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FF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Самылкин Е., Головков Д., Гудков Д.</a:t>
            </a:r>
            <a:endParaRPr b="0" i="0" sz="1400" u="none" cap="none" strike="noStrike">
              <a:solidFill>
                <a:srgbClr val="00FF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"/>
          <p:cNvSpPr txBox="1"/>
          <p:nvPr/>
        </p:nvSpPr>
        <p:spPr>
          <a:xfrm>
            <a:off x="5140175" y="4307075"/>
            <a:ext cx="1003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FF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РПО 25/5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"/>
          <p:cNvSpPr txBox="1"/>
          <p:nvPr/>
        </p:nvSpPr>
        <p:spPr>
          <a:xfrm>
            <a:off x="1847850" y="4478535"/>
            <a:ext cx="91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"/>
          <p:cNvSpPr txBox="1"/>
          <p:nvPr/>
        </p:nvSpPr>
        <p:spPr>
          <a:xfrm>
            <a:off x="781050" y="4307075"/>
            <a:ext cx="609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8B949E"/>
                </a:solidFill>
                <a:latin typeface="Space Grotesk"/>
                <a:ea typeface="Space Grotesk"/>
                <a:cs typeface="Space Grotesk"/>
                <a:sym typeface="Space Grotesk"/>
              </a:rPr>
              <a:t>Авторы:</a:t>
            </a:r>
            <a:endParaRPr b="0" i="0" sz="1050" u="none" cap="none" strike="noStrike">
              <a:solidFill>
                <a:srgbClr val="8B94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"/>
          <p:cNvSpPr txBox="1"/>
          <p:nvPr/>
        </p:nvSpPr>
        <p:spPr>
          <a:xfrm>
            <a:off x="781050" y="4630175"/>
            <a:ext cx="1227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8B949E"/>
                </a:solidFill>
                <a:latin typeface="Space Grotesk"/>
                <a:ea typeface="Space Grotesk"/>
                <a:cs typeface="Space Grotesk"/>
                <a:sym typeface="Space Grotesk"/>
              </a:rPr>
              <a:t>Руководитель:</a:t>
            </a:r>
            <a:endParaRPr b="0" i="0" sz="1050" u="none" cap="none" strike="noStrike">
              <a:solidFill>
                <a:srgbClr val="8B94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"/>
          <p:cNvSpPr txBox="1"/>
          <p:nvPr/>
        </p:nvSpPr>
        <p:spPr>
          <a:xfrm>
            <a:off x="1744000" y="4630175"/>
            <a:ext cx="251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FF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Петров Михаил Сергеевич</a:t>
            </a:r>
            <a:endParaRPr b="0" i="0" sz="1050" u="none" cap="none" strike="noStrike">
              <a:solidFill>
                <a:srgbClr val="00FF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7" name="Google Shape;277;p1"/>
          <p:cNvSpPr txBox="1"/>
          <p:nvPr/>
        </p:nvSpPr>
        <p:spPr>
          <a:xfrm>
            <a:off x="4530575" y="4307075"/>
            <a:ext cx="609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8B949E"/>
                </a:solidFill>
                <a:latin typeface="Space Grotesk"/>
                <a:ea typeface="Space Grotesk"/>
                <a:cs typeface="Space Grotesk"/>
                <a:sym typeface="Space Grotesk"/>
              </a:rPr>
              <a:t>Группа:</a:t>
            </a:r>
            <a:endParaRPr b="0" i="0" sz="1050" u="none" cap="none" strike="noStrike">
              <a:solidFill>
                <a:srgbClr val="8B949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" y="2509986"/>
            <a:ext cx="5124450" cy="2342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09986"/>
            <a:ext cx="5124450" cy="2342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34700" y="6496050"/>
            <a:ext cx="4762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23950" y="2852886"/>
            <a:ext cx="466058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F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Преодоление абстракций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23950" y="3291036"/>
            <a:ext cx="44386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Традиционные подходы к обучению кибербезопасности перегружены сложной теорией. Игровая форма позволяет наглядно показать принципы детекции ошибок и логического анализа на практическом примере.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29400" y="2852886"/>
            <a:ext cx="466058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F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Алгоритмический базис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29400" y="3291036"/>
            <a:ext cx="44386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Игровая сессия требует от пользователя постоянного сравнения вариантов и исключения гипотез. Это напрямую способствует развитию системного и алгоритмического мышления начинающих программистов.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71550" y="495300"/>
            <a:ext cx="109613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АКТУАЛЬНОСТЬ ПРОЕКТА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81050" y="495300"/>
            <a:ext cx="38100" cy="36195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4700" y="6496050"/>
            <a:ext cx="4762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66800" y="2595562"/>
            <a:ext cx="1034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Полноценный учебный симулятор:</a:t>
            </a:r>
            <a:r>
              <a:rPr b="0" i="0" lang="en-US" sz="1200" u="none" cap="none" strike="noStrik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Разработка законченного интерактивного хакерского интерфейса на Python, имитирующего безопасный подбор шифров.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66800" y="3195637"/>
            <a:ext cx="1034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Адаптивный UI/UX терминала:</a:t>
            </a:r>
            <a:r>
              <a:rPr b="0" i="0" lang="en-US" sz="1200" u="none" cap="none" strike="noStrik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Реализация комфортного управления, интуитивных инструкций, подсказок и переключения в полноэкранный режим.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66800" y="3795712"/>
            <a:ext cx="1034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Сохранение результатов:</a:t>
            </a:r>
            <a:r>
              <a:rPr b="0" i="0" lang="en-US" sz="1200" u="none" cap="none" strike="noStrik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Интеграция базы данных статистики на базе формата JSON для удержания вовлеченности оператора.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66800" y="4395787"/>
            <a:ext cx="10344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Методический продукт:</a:t>
            </a:r>
            <a:r>
              <a:rPr b="0" i="0" lang="en-US" sz="1200" u="none" cap="none" strike="noStrik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Оформление материалов для последующего использования в учебном процессе колледжа.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26336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323373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8338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4433887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71550" y="495300"/>
            <a:ext cx="109613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ЦЕЛИ И КОНЦЕПЦИЯ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81050" y="495300"/>
            <a:ext cx="38100" cy="36195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4700" y="6496050"/>
            <a:ext cx="476250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16"/>
          <p:cNvGraphicFramePr/>
          <p:nvPr/>
        </p:nvGraphicFramePr>
        <p:xfrm>
          <a:off x="781050" y="24336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{C6386A8D-305B-4B50-9FE9-2AFD72D836EB}</a:tableStyleId>
              </a:tblPr>
              <a:tblGrid>
                <a:gridCol w="2070500"/>
                <a:gridCol w="3737375"/>
                <a:gridCol w="4822025"/>
              </a:tblGrid>
              <a:tr h="6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25" u="none" cap="none" strike="noStrike">
                          <a:solidFill>
                            <a:srgbClr val="00FF66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Участник команды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FF66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Область ответственности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FF66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Результаты деятельности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6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Самылкин Евгений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Ядро программы и математическая логика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Разработка стейт-машины, логики генерации и валидации кодов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Головков Денис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Графический интерфейс и пользовательский путь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Отрисовка панелей, анимация Matrix, управление F11/ESC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Гудков Дмитрий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Документирование, аудит и тестирование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Написание пояснительной записки по ГОСТ, подготовка к защите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6"/>
          <p:cNvSpPr/>
          <p:nvPr/>
        </p:nvSpPr>
        <p:spPr>
          <a:xfrm>
            <a:off x="781050" y="3057525"/>
            <a:ext cx="2070496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851546" y="3057525"/>
            <a:ext cx="373737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588918" y="3057525"/>
            <a:ext cx="482203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81050" y="3676650"/>
            <a:ext cx="2070496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851546" y="3676650"/>
            <a:ext cx="373737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588918" y="3676650"/>
            <a:ext cx="482203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81050" y="4295775"/>
            <a:ext cx="2070496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851546" y="4295775"/>
            <a:ext cx="373737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588918" y="4295775"/>
            <a:ext cx="482203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81050" y="4914900"/>
            <a:ext cx="2070496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851546" y="4914900"/>
            <a:ext cx="373737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588918" y="4914900"/>
            <a:ext cx="482203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971550" y="495300"/>
            <a:ext cx="109613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КОМАНДНОЕ ВЗАИМОДЕЙСТВИЕ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781050" y="495300"/>
            <a:ext cx="38100" cy="36195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" y="2409973"/>
            <a:ext cx="3416349" cy="2542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7899" y="2409973"/>
            <a:ext cx="3416349" cy="2542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4749" y="2409973"/>
            <a:ext cx="3416349" cy="2542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34700" y="6496050"/>
            <a:ext cx="4762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076325" y="3248173"/>
            <a:ext cx="29670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6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Монолитный запуск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076325" y="3591073"/>
            <a:ext cx="2825799" cy="1066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Код сосредоточен в едином исполняемом модуле main.py. Это предотвращает ошибки путей при переносе проекта и упрощает запуск для проверяющего преподавателя.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683174" y="3248173"/>
            <a:ext cx="29670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6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Паттерн State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683174" y="3591073"/>
            <a:ext cx="2825799" cy="1066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Каждый экран наследует базовый класс Scene. Диспетчер CodeBreakerApp циклически вызывает методы handle_event(), update() и draw() текущей активной сцены.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290024" y="3248173"/>
            <a:ext cx="29670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6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Matrix Background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290024" y="3591073"/>
            <a:ext cx="2825799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Выделенный класс фоновой анимации стекающих символов автоматически адаптирует сетку при смене разрешения экрана или масштабировании.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6325" y="275287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3174" y="2752873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0024" y="2752873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971550" y="495300"/>
            <a:ext cx="109613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АРХИТЕКТУРА ПРОГРАММЫ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781050" y="495300"/>
            <a:ext cx="38100" cy="36195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71662"/>
            <a:ext cx="51244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34700" y="6496050"/>
            <a:ext cx="4762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881187"/>
            <a:ext cx="51054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1066800" y="243840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Панель терминала взлома (слева):</a:t>
            </a:r>
            <a:r>
              <a:rPr b="0" i="0" lang="en-US" sz="1200" u="none" cap="none" strike="noStrik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Предназначена для фокусного ввода шифра оператором и вывода истории прошлых попыток в реальном времени.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66800" y="3267075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Панель оператора (справа):</a:t>
            </a:r>
            <a:r>
              <a:rPr b="0" i="0" lang="en-US" sz="1200" u="none" cap="none" strike="noStrik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Информирует о времени сессии, запасе попыток, количестве промахов, текущем счете и доступных горячих клавишах.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066800" y="409575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Строгий контроль длины строк:</a:t>
            </a:r>
            <a:r>
              <a:rPr b="0" i="0" lang="en-US" sz="1200" u="none" cap="none" strike="noStrik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Текстовые поля ограничены по ширине панелей, исключая визуальный выход за границы графических блоков.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971550" y="495300"/>
            <a:ext cx="109613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ИГРОВОЙ ПРОЦЕСС И ИНТЕРФЕЙС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81050" y="495300"/>
            <a:ext cx="38100" cy="36195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" y="3400425"/>
            <a:ext cx="10629900" cy="836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34700" y="6496050"/>
            <a:ext cx="4762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81050" y="2769989"/>
            <a:ext cx="106299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При нажатии Enter веса введенного шифра проверяются на точные совпадения (позиция и значение) и частичные совпадения (цифра есть, но на другой позиции).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81050" y="4379416"/>
            <a:ext cx="106299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При прохождении порога в 5 неудачных попыток, программа задействует адаптивную подсказку, исключающую тупиковые логические шаги игрока.</a:t>
            </a:r>
            <a:endParaRPr/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82654" y="3600450"/>
            <a:ext cx="1626691" cy="43606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971550" y="495300"/>
            <a:ext cx="109613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ЛОГИКА ПРОВЕРКИ СОВПАДЕНИЙ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781050" y="495300"/>
            <a:ext cx="38100" cy="36195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" y="2952750"/>
            <a:ext cx="3416349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7899" y="2952750"/>
            <a:ext cx="3416349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4749" y="2952750"/>
            <a:ext cx="3416349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34700" y="6496050"/>
            <a:ext cx="4762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981075" y="3248025"/>
            <a:ext cx="30162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FF66"/>
                </a:solidFill>
                <a:latin typeface="Space Grotesk"/>
                <a:ea typeface="Space Grotesk"/>
                <a:cs typeface="Space Grotesk"/>
                <a:sym typeface="Space Grotesk"/>
              </a:rPr>
              <a:t>1200x720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81075" y="3952875"/>
            <a:ext cx="30162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БАЗОВОЕ РАЗРЕШЕНИЕ (PX)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587924" y="3248025"/>
            <a:ext cx="30162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FF66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587924" y="3952875"/>
            <a:ext cx="30162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ЛИМИТ ПРОМАХОВ ДЛЯ ПОДСКАЗКИ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194774" y="3248025"/>
            <a:ext cx="30162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FF66"/>
                </a:solidFill>
                <a:latin typeface="Space Grotesk"/>
                <a:ea typeface="Space Grotesk"/>
                <a:cs typeface="Space Grotesk"/>
                <a:sym typeface="Space Grotesk"/>
              </a:rPr>
              <a:t>3.12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194774" y="3952875"/>
            <a:ext cx="30162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ЦЕЛЕВОЙ СТЕК PYTHON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71550" y="495300"/>
            <a:ext cx="109613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СИСТЕМНЫЕ КОНСТАНТЫ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781050" y="495300"/>
            <a:ext cx="38100" cy="36195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4700" y="6496050"/>
            <a:ext cx="4762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781050" y="495300"/>
            <a:ext cx="55806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JSON БАЗА ДАННЫХ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590550" y="495300"/>
            <a:ext cx="38100" cy="36195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19050"/>
            <a:ext cx="60769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781050" y="3095773"/>
            <a:ext cx="5314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Спецификация save_data.json: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781050" y="3482429"/>
            <a:ext cx="53149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База данных рекордов хранит статистику оператора. Считывание и десериализация структуры словаря происходит атомарно в блоке инициализации приложения. JSON формат обеспечивает легкую переносимость профиля.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8025" y="6496050"/>
            <a:ext cx="542925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p22"/>
          <p:cNvGraphicFramePr/>
          <p:nvPr/>
        </p:nvGraphicFramePr>
        <p:xfrm>
          <a:off x="781050" y="2557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{C6386A8D-305B-4B50-9FE9-2AFD72D836EB}</a:tableStyleId>
              </a:tblPr>
              <a:tblGrid>
                <a:gridCol w="2763300"/>
                <a:gridCol w="3298175"/>
                <a:gridCol w="3298175"/>
                <a:gridCol w="1270250"/>
              </a:tblGrid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FF66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Проверяемая функция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FF66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Методология проверки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FF66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Ожидаемый результат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FF66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Вердикт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Запуск игры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Старт main.py с чистым окружением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Окно открывается, частота 60 FPS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FF6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УСПЕШНО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Запись профиля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Первый ввод имени оператора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Запись структуры в save_data.json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FF6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УСПЕШНО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Горячие клавиши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Тестирование нажатий ESC, F11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Выход в меню, триггер Fullscreen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FF6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УСПЕШНО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4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Логика подсказок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Генерация 5 неверных ответов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C9D1D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Вывод точного символа на панели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FF6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УСПЕШНО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22"/>
          <p:cNvSpPr/>
          <p:nvPr/>
        </p:nvSpPr>
        <p:spPr>
          <a:xfrm>
            <a:off x="781050" y="3000375"/>
            <a:ext cx="276329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3544341" y="3000375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6842521" y="3000375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0140701" y="3000375"/>
            <a:ext cx="1270248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781050" y="3448050"/>
            <a:ext cx="276329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544341" y="3448050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6842521" y="3448050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0140701" y="3448050"/>
            <a:ext cx="1270248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81050" y="3895725"/>
            <a:ext cx="276329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3544341" y="3895725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6842521" y="3895725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0140701" y="3895725"/>
            <a:ext cx="1270248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81050" y="4343400"/>
            <a:ext cx="276329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544341" y="4343400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842521" y="4343400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10140701" y="4343400"/>
            <a:ext cx="1270248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781050" y="4791075"/>
            <a:ext cx="2763291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3544341" y="4791075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842521" y="4791075"/>
            <a:ext cx="329818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0140701" y="4791075"/>
            <a:ext cx="1270248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971550" y="495300"/>
            <a:ext cx="109613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ПРОТОКОЛ ТЕСТИРОВАНИЯ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781050" y="495300"/>
            <a:ext cx="38100" cy="36195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8025" y="6496050"/>
            <a:ext cx="542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1858751" y="2215691"/>
            <a:ext cx="8474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ПРОЕКТ УСПЕШНО РЕАЛИЗОВАН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2286000" y="353481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Игра Code Breaker полностью отвечает поставленным целям. Разработан качественный интерактивный симулятор, наглядно раскрывающий прикладную логику анализа данных и базовые концепции построения игровых приложений на Python.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8025" y="6496050"/>
            <a:ext cx="542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3202357" y="2402234"/>
            <a:ext cx="578728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Спасибо за внимание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3238500" y="3269009"/>
            <a:ext cx="5715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Будем рады ответить на ваши вопросы по архитектуре и реализации проекта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4540950" y="4150975"/>
            <a:ext cx="311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84F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Самылкин Е. | Головков Д. | Гудков Д.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84F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РПО 25/5 |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